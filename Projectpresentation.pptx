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5" r:id="rId10"/>
    <p:sldId id="267" r:id="rId11"/>
    <p:sldId id="268" r:id="rId12"/>
    <p:sldId id="269" r:id="rId13"/>
    <p:sldId id="270" r:id="rId14"/>
    <p:sldId id="271" r:id="rId15"/>
    <p:sldId id="272" r:id="rId16"/>
    <p:sldId id="273" r:id="rId17"/>
    <p:sldId id="274" r:id="rId18"/>
    <p:sldId id="276" r:id="rId19"/>
    <p:sldId id="275"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pKt4+ayaaarKqrjIdPfj2kseL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F8C3DD-922A-41B9-AF1F-12C2BF5FD357}">
  <a:tblStyle styleId="{9AF8C3DD-922A-41B9-AF1F-12C2BF5FD35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62" d="100"/>
          <a:sy n="62" d="100"/>
        </p:scale>
        <p:origin x="8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b="1" dirty="0"/>
              <a:t>SHRI SHANAKARCHARYA TECHANICAL CAMPUS</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762184"/>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572286803"/>
              </p:ext>
            </p:extLst>
          </p:nvPr>
        </p:nvGraphicFramePr>
        <p:xfrm>
          <a:off x="1299257" y="2600315"/>
          <a:ext cx="9395000" cy="2536764"/>
        </p:xfrm>
        <a:graphic>
          <a:graphicData uri="http://schemas.openxmlformats.org/drawingml/2006/table">
            <a:tbl>
              <a:tblPr>
                <a:noFill/>
                <a:tableStyleId>{9AF8C3DD-922A-41B9-AF1F-12C2BF5FD357}</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1139225">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Recent Passport Photo</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Arial"/>
                          <a:cs typeface="Arial"/>
                          <a:sym typeface="Arial"/>
                        </a:rPr>
                        <a:t>Email ID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Mobile number</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[WhatsApp]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97539">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391098" y="142858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Domain of  Project – </a:t>
            </a:r>
            <a:r>
              <a:rPr lang="en-US" sz="2800" b="1" i="0" u="none" strike="noStrike" cap="none" dirty="0">
                <a:solidFill>
                  <a:srgbClr val="000000"/>
                </a:solidFill>
                <a:highlight>
                  <a:srgbClr val="00FFFF"/>
                </a:highlight>
                <a:latin typeface="Arial"/>
                <a:ea typeface="Arial"/>
                <a:cs typeface="Arial"/>
                <a:sym typeface="Arial"/>
              </a:rPr>
              <a:t>[ S</a:t>
            </a:r>
            <a:r>
              <a:rPr lang="en-US" sz="2800" b="1" dirty="0">
                <a:highlight>
                  <a:srgbClr val="00FFFF"/>
                </a:highlight>
              </a:rPr>
              <a:t>ocial Media Agent</a:t>
            </a:r>
            <a:r>
              <a:rPr lang="en-US" sz="2800" b="1" i="0" u="none" strike="noStrike" cap="none" dirty="0">
                <a:solidFill>
                  <a:srgbClr val="000000"/>
                </a:solidFill>
                <a:highlight>
                  <a:srgbClr val="00FFFF"/>
                </a:highlight>
                <a:latin typeface="Arial"/>
                <a:ea typeface="Arial"/>
                <a:cs typeface="Arial"/>
                <a:sym typeface="Arial"/>
              </a:rPr>
              <a:t> ]</a:t>
            </a:r>
            <a:endParaRPr sz="2800" b="1" i="0" u="none" strike="noStrike" cap="none" dirty="0">
              <a:solidFill>
                <a:srgbClr val="000000"/>
              </a:solidFill>
              <a:highlight>
                <a:srgbClr val="00FFFF"/>
              </a:highlight>
              <a:latin typeface="Arial"/>
              <a:ea typeface="Arial"/>
              <a:cs typeface="Arial"/>
              <a:sym typeface="Arial"/>
            </a:endParaRPr>
          </a:p>
        </p:txBody>
      </p:sp>
      <p:sp>
        <p:nvSpPr>
          <p:cNvPr id="89" name="Google Shape;89;p2"/>
          <p:cNvSpPr txBox="1"/>
          <p:nvPr/>
        </p:nvSpPr>
        <p:spPr>
          <a:xfrm>
            <a:off x="907467" y="629759"/>
            <a:ext cx="988351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Project Tile – </a:t>
            </a:r>
            <a:r>
              <a:rPr lang="en-US" sz="2800" b="1" i="0" u="none" strike="noStrike" cap="none" dirty="0">
                <a:solidFill>
                  <a:srgbClr val="000000"/>
                </a:solidFill>
                <a:highlight>
                  <a:srgbClr val="00FFFF"/>
                </a:highlight>
                <a:latin typeface="Arial"/>
                <a:ea typeface="Arial"/>
                <a:cs typeface="Arial"/>
                <a:sym typeface="Arial"/>
              </a:rPr>
              <a:t>[ Agentic AI &amp; Advanced Social Analytics ]</a:t>
            </a:r>
            <a:endParaRPr sz="2800" b="1" i="0" u="none" strike="noStrike" cap="none" dirty="0">
              <a:solidFill>
                <a:srgbClr val="000000"/>
              </a:solidFill>
              <a:highlight>
                <a:srgbClr val="00FFFF"/>
              </a:highlight>
              <a:latin typeface="Arial"/>
              <a:ea typeface="Arial"/>
              <a:cs typeface="Arial"/>
              <a:sym typeface="Arial"/>
            </a:endParaRPr>
          </a:p>
        </p:txBody>
      </p:sp>
      <p:sp>
        <p:nvSpPr>
          <p:cNvPr id="5" name="TextBox 4">
            <a:extLst>
              <a:ext uri="{FF2B5EF4-FFF2-40B4-BE49-F238E27FC236}">
                <a16:creationId xmlns:a16="http://schemas.microsoft.com/office/drawing/2014/main" id="{E4B43FB1-C8CD-252E-85E2-AC28F8866284}"/>
              </a:ext>
            </a:extLst>
          </p:cNvPr>
          <p:cNvSpPr txBox="1"/>
          <p:nvPr/>
        </p:nvSpPr>
        <p:spPr>
          <a:xfrm>
            <a:off x="1544773" y="3974753"/>
            <a:ext cx="1563329" cy="707886"/>
          </a:xfrm>
          <a:prstGeom prst="rect">
            <a:avLst/>
          </a:prstGeom>
          <a:noFill/>
        </p:spPr>
        <p:txBody>
          <a:bodyPr wrap="square" rtlCol="0">
            <a:spAutoFit/>
          </a:bodyPr>
          <a:lstStyle/>
          <a:p>
            <a:r>
              <a:rPr lang="en-US" sz="2000" dirty="0"/>
              <a:t>Bhumika Chandrakar</a:t>
            </a:r>
            <a:endParaRPr lang="en-IN" sz="2000" dirty="0"/>
          </a:p>
        </p:txBody>
      </p:sp>
      <p:sp>
        <p:nvSpPr>
          <p:cNvPr id="6" name="TextBox 5">
            <a:extLst>
              <a:ext uri="{FF2B5EF4-FFF2-40B4-BE49-F238E27FC236}">
                <a16:creationId xmlns:a16="http://schemas.microsoft.com/office/drawing/2014/main" id="{12CA9FAD-EB5A-9828-A859-66CDE099E9BA}"/>
              </a:ext>
            </a:extLst>
          </p:cNvPr>
          <p:cNvSpPr txBox="1"/>
          <p:nvPr/>
        </p:nvSpPr>
        <p:spPr>
          <a:xfrm>
            <a:off x="5849226" y="3974753"/>
            <a:ext cx="2523654" cy="707886"/>
          </a:xfrm>
          <a:prstGeom prst="rect">
            <a:avLst/>
          </a:prstGeom>
          <a:noFill/>
        </p:spPr>
        <p:txBody>
          <a:bodyPr wrap="square" rtlCol="0">
            <a:spAutoFit/>
          </a:bodyPr>
          <a:lstStyle/>
          <a:p>
            <a:r>
              <a:rPr lang="en-US" sz="2000" dirty="0"/>
              <a:t>bhumikachandrakar0110@gmail.com</a:t>
            </a:r>
            <a:endParaRPr lang="en-IN" sz="2000" dirty="0"/>
          </a:p>
        </p:txBody>
      </p:sp>
      <p:sp>
        <p:nvSpPr>
          <p:cNvPr id="7" name="TextBox 6">
            <a:extLst>
              <a:ext uri="{FF2B5EF4-FFF2-40B4-BE49-F238E27FC236}">
                <a16:creationId xmlns:a16="http://schemas.microsoft.com/office/drawing/2014/main" id="{4A80DC11-F4F1-AC12-A908-6B3EC6F855BE}"/>
              </a:ext>
            </a:extLst>
          </p:cNvPr>
          <p:cNvSpPr txBox="1"/>
          <p:nvPr/>
        </p:nvSpPr>
        <p:spPr>
          <a:xfrm>
            <a:off x="8728383" y="4082475"/>
            <a:ext cx="1869138" cy="400110"/>
          </a:xfrm>
          <a:prstGeom prst="rect">
            <a:avLst/>
          </a:prstGeom>
          <a:noFill/>
        </p:spPr>
        <p:txBody>
          <a:bodyPr wrap="square" rtlCol="0">
            <a:spAutoFit/>
          </a:bodyPr>
          <a:lstStyle/>
          <a:p>
            <a:r>
              <a:rPr lang="en-US" sz="2000" dirty="0"/>
              <a:t>9098582046</a:t>
            </a:r>
            <a:endParaRPr lang="en-IN" sz="2000" dirty="0"/>
          </a:p>
        </p:txBody>
      </p:sp>
      <p:pic>
        <p:nvPicPr>
          <p:cNvPr id="3" name="Picture 2">
            <a:extLst>
              <a:ext uri="{FF2B5EF4-FFF2-40B4-BE49-F238E27FC236}">
                <a16:creationId xmlns:a16="http://schemas.microsoft.com/office/drawing/2014/main" id="{28E24998-C480-4EC6-AD7A-F17BD453B945}"/>
              </a:ext>
            </a:extLst>
          </p:cNvPr>
          <p:cNvPicPr>
            <a:picLocks noChangeAspect="1"/>
          </p:cNvPicPr>
          <p:nvPr/>
        </p:nvPicPr>
        <p:blipFill rotWithShape="1">
          <a:blip r:embed="rId3"/>
          <a:srcRect l="43688" t="43079" r="26296" b="33372"/>
          <a:stretch/>
        </p:blipFill>
        <p:spPr>
          <a:xfrm>
            <a:off x="3966097" y="3739065"/>
            <a:ext cx="1272283" cy="13726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34"/>
          <p:cNvSpPr txBox="1"/>
          <p:nvPr/>
        </p:nvSpPr>
        <p:spPr>
          <a:xfrm>
            <a:off x="617168" y="375315"/>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B795CB6A-374F-452C-A301-151FC0A6A574}"/>
              </a:ext>
            </a:extLst>
          </p:cNvPr>
          <p:cNvSpPr txBox="1"/>
          <p:nvPr/>
        </p:nvSpPr>
        <p:spPr>
          <a:xfrm>
            <a:off x="716623" y="1298645"/>
            <a:ext cx="10420564" cy="5318059"/>
          </a:xfrm>
          <a:prstGeom prst="rect">
            <a:avLst/>
          </a:prstGeom>
          <a:noFill/>
        </p:spPr>
        <p:txBody>
          <a:bodyPr wrap="square">
            <a:spAutoFit/>
          </a:bodyPr>
          <a:lstStyle/>
          <a:p>
            <a:pPr>
              <a:lnSpc>
                <a:spcPct val="115000"/>
              </a:lnSpc>
              <a:spcAft>
                <a:spcPts val="800"/>
              </a:spcAft>
            </a:pPr>
            <a:r>
              <a:rPr lang="en-IN" sz="1600" b="1" kern="100" dirty="0">
                <a:effectLst/>
                <a:latin typeface="Times New Roman" panose="02020603050405020304" pitchFamily="18" charset="0"/>
                <a:ea typeface="Aptos"/>
                <a:cs typeface="Arial" panose="020B0604020202020204" pitchFamily="34" charset="0"/>
              </a:rPr>
              <a:t>The Challenge</a:t>
            </a:r>
            <a:endParaRPr lang="en-IN" sz="1400" kern="100" dirty="0">
              <a:effectLst/>
              <a:latin typeface="Aptos"/>
              <a:ea typeface="Aptos"/>
              <a:cs typeface="Arial" panose="020B0604020202020204" pitchFamily="34" charset="0"/>
            </a:endParaRPr>
          </a:p>
          <a:p>
            <a:pPr algn="just">
              <a:lnSpc>
                <a:spcPct val="115000"/>
              </a:lnSpc>
              <a:spcAft>
                <a:spcPts val="800"/>
              </a:spcAft>
            </a:pPr>
            <a:r>
              <a:rPr lang="en-IN" sz="1400" kern="100" dirty="0">
                <a:effectLst/>
                <a:latin typeface="Times New Roman" panose="02020603050405020304" pitchFamily="18" charset="0"/>
                <a:ea typeface="Aptos"/>
                <a:cs typeface="Arial" panose="020B0604020202020204" pitchFamily="34" charset="0"/>
              </a:rPr>
              <a:t>Brands, influencers, and organizations struggle to keep up with the </a:t>
            </a:r>
            <a:r>
              <a:rPr lang="en-IN" sz="1400" b="1" kern="100" dirty="0">
                <a:effectLst/>
                <a:latin typeface="Times New Roman" panose="02020603050405020304" pitchFamily="18" charset="0"/>
                <a:ea typeface="Aptos"/>
                <a:cs typeface="Arial" panose="020B0604020202020204" pitchFamily="34" charset="0"/>
              </a:rPr>
              <a:t>fast-paced and fragmented world of social media</a:t>
            </a:r>
            <a:r>
              <a:rPr lang="en-IN" sz="1400" kern="100" dirty="0">
                <a:effectLst/>
                <a:latin typeface="Times New Roman" panose="02020603050405020304" pitchFamily="18" charset="0"/>
                <a:ea typeface="Aptos"/>
                <a:cs typeface="Arial" panose="020B0604020202020204" pitchFamily="34" charset="0"/>
              </a:rPr>
              <a:t>.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1400" b="1" kern="100" dirty="0" err="1">
                <a:effectLst/>
                <a:latin typeface="Times New Roman" panose="02020603050405020304" pitchFamily="18" charset="0"/>
                <a:ea typeface="Aptos"/>
                <a:cs typeface="Arial" panose="020B0604020202020204" pitchFamily="34" charset="0"/>
              </a:rPr>
              <a:t>analyze</a:t>
            </a:r>
            <a:r>
              <a:rPr lang="en-IN" sz="1400" b="1" kern="100" dirty="0">
                <a:effectLst/>
                <a:latin typeface="Times New Roman" panose="02020603050405020304" pitchFamily="18" charset="0"/>
                <a:ea typeface="Aptos"/>
                <a:cs typeface="Arial" panose="020B0604020202020204" pitchFamily="34" charset="0"/>
              </a:rPr>
              <a:t>, predict, and recommend actions in real time</a:t>
            </a:r>
            <a:r>
              <a:rPr lang="en-IN" sz="1400" kern="100" dirty="0">
                <a:effectLst/>
                <a:latin typeface="Times New Roman" panose="02020603050405020304" pitchFamily="18" charset="0"/>
                <a:ea typeface="Aptos"/>
                <a:cs typeface="Arial" panose="020B0604020202020204" pitchFamily="34" charset="0"/>
              </a:rPr>
              <a:t>.</a:t>
            </a:r>
            <a:endParaRPr lang="en-IN" sz="1400" kern="100" dirty="0">
              <a:effectLst/>
              <a:latin typeface="Aptos"/>
              <a:ea typeface="Aptos"/>
              <a:cs typeface="Arial" panose="020B0604020202020204" pitchFamily="34" charset="0"/>
            </a:endParaRPr>
          </a:p>
          <a:p>
            <a:pPr>
              <a:lnSpc>
                <a:spcPct val="115000"/>
              </a:lnSpc>
              <a:spcAft>
                <a:spcPts val="800"/>
              </a:spcAft>
            </a:pPr>
            <a:r>
              <a:rPr lang="en-IN" sz="1600" b="1" kern="100" dirty="0">
                <a:effectLst/>
                <a:latin typeface="Times New Roman" panose="02020603050405020304" pitchFamily="18" charset="0"/>
                <a:ea typeface="Aptos"/>
                <a:cs typeface="Arial" panose="020B0604020202020204" pitchFamily="34" charset="0"/>
              </a:rPr>
              <a:t>The Objective</a:t>
            </a:r>
            <a:endParaRPr lang="en-IN" sz="1400" kern="100" dirty="0">
              <a:effectLst/>
              <a:latin typeface="Aptos"/>
              <a:ea typeface="Aptos"/>
              <a:cs typeface="Arial" panose="020B0604020202020204" pitchFamily="34" charset="0"/>
            </a:endParaRPr>
          </a:p>
          <a:p>
            <a:pPr algn="just">
              <a:lnSpc>
                <a:spcPct val="115000"/>
              </a:lnSpc>
              <a:spcAft>
                <a:spcPts val="800"/>
              </a:spcAft>
            </a:pPr>
            <a:r>
              <a:rPr lang="en-IN" sz="1400" kern="100" dirty="0">
                <a:effectLst/>
                <a:latin typeface="Times New Roman" panose="02020603050405020304" pitchFamily="18" charset="0"/>
                <a:ea typeface="Aptos"/>
                <a:cs typeface="Arial" panose="020B0604020202020204" pitchFamily="34" charset="0"/>
              </a:rPr>
              <a:t>Build an </a:t>
            </a:r>
            <a:r>
              <a:rPr lang="en-IN" sz="1400" b="1" kern="100" dirty="0">
                <a:effectLst/>
                <a:latin typeface="Times New Roman" panose="02020603050405020304" pitchFamily="18" charset="0"/>
                <a:ea typeface="Aptos"/>
                <a:cs typeface="Arial" panose="020B0604020202020204" pitchFamily="34" charset="0"/>
              </a:rPr>
              <a:t>agentic AI application</a:t>
            </a:r>
            <a:r>
              <a:rPr lang="en-IN" sz="1400" kern="100" dirty="0">
                <a:effectLst/>
                <a:latin typeface="Times New Roman" panose="02020603050405020304" pitchFamily="18" charset="0"/>
                <a:ea typeface="Aptos"/>
                <a:cs typeface="Arial" panose="020B0604020202020204" pitchFamily="34" charset="0"/>
              </a:rPr>
              <a:t> that acts as an intelligent social media companion. The solution should:</a:t>
            </a:r>
            <a:endParaRPr lang="en-IN" sz="1400"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180340" algn="l"/>
              </a:tabLst>
            </a:pPr>
            <a:r>
              <a:rPr lang="en-IN" sz="1400" b="1" kern="100" dirty="0">
                <a:effectLst/>
                <a:latin typeface="Times New Roman" panose="02020603050405020304" pitchFamily="18" charset="0"/>
                <a:ea typeface="Aptos"/>
                <a:cs typeface="Arial" panose="020B0604020202020204" pitchFamily="34" charset="0"/>
              </a:rPr>
              <a:t>Fuse Multichannel Data :-</a:t>
            </a:r>
            <a:r>
              <a:rPr lang="en-IN" sz="1400" kern="100" dirty="0">
                <a:effectLst/>
                <a:latin typeface="Times New Roman" panose="02020603050405020304" pitchFamily="18" charset="0"/>
                <a:ea typeface="Aptos"/>
                <a:cs typeface="Arial" panose="020B0604020202020204" pitchFamily="34" charset="0"/>
              </a:rPr>
              <a:t> Collect and synthesize content, comments, hashtags, and competitor posts from platforms like X, LinkedIn, Instagram, and Facebook into unified insights.</a:t>
            </a:r>
            <a:endParaRPr lang="en-IN" sz="1400"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180340" algn="l"/>
              </a:tabLst>
            </a:pPr>
            <a:r>
              <a:rPr lang="en-IN" sz="1400" b="1" kern="100" dirty="0">
                <a:effectLst/>
                <a:latin typeface="Times New Roman" panose="02020603050405020304" pitchFamily="18" charset="0"/>
                <a:ea typeface="Aptos"/>
                <a:cs typeface="Arial" panose="020B0604020202020204" pitchFamily="34" charset="0"/>
              </a:rPr>
              <a:t>Enable Multimodal Interaction :-</a:t>
            </a:r>
            <a:r>
              <a:rPr lang="en-IN" sz="1400" kern="100" dirty="0">
                <a:effectLst/>
                <a:latin typeface="Times New Roman" panose="02020603050405020304" pitchFamily="18" charset="0"/>
                <a:ea typeface="Aptos"/>
                <a:cs typeface="Arial" panose="020B0604020202020204" pitchFamily="34" charset="0"/>
              </a:rPr>
              <a:t> Accept user inputs (text, images, or voice prompts) and generate creative post drafts, captions, or campaign ideas aligned with brand tone.</a:t>
            </a:r>
            <a:endParaRPr lang="en-IN" sz="1400"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180340" algn="l"/>
              </a:tabLst>
            </a:pPr>
            <a:r>
              <a:rPr lang="en-IN" sz="1400" b="1" kern="100" dirty="0">
                <a:effectLst/>
                <a:latin typeface="Times New Roman" panose="02020603050405020304" pitchFamily="18" charset="0"/>
                <a:ea typeface="Aptos"/>
                <a:cs typeface="Arial" panose="020B0604020202020204" pitchFamily="34" charset="0"/>
              </a:rPr>
              <a:t>Create a Predictive &amp; Agentic Layer :-</a:t>
            </a:r>
            <a:r>
              <a:rPr lang="en-IN" sz="1400" kern="100" dirty="0">
                <a:effectLst/>
                <a:latin typeface="Times New Roman" panose="02020603050405020304" pitchFamily="18" charset="0"/>
                <a:ea typeface="Aptos"/>
                <a:cs typeface="Arial" panose="020B0604020202020204" pitchFamily="34" charset="0"/>
              </a:rPr>
              <a:t> Forecast trending hashtags, audience sentiment shifts, and competitor engagement patterns while suggesting the best posting schedules.</a:t>
            </a:r>
            <a:endParaRPr lang="en-IN" sz="1400"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180340" algn="l"/>
              </a:tabLst>
            </a:pPr>
            <a:r>
              <a:rPr lang="en-IN" sz="1400" b="1" kern="100" dirty="0">
                <a:effectLst/>
                <a:latin typeface="Times New Roman" panose="02020603050405020304" pitchFamily="18" charset="0"/>
                <a:ea typeface="Aptos"/>
                <a:cs typeface="Arial" panose="020B0604020202020204" pitchFamily="34" charset="0"/>
              </a:rPr>
              <a:t>Visualize Social Media Pulse :-</a:t>
            </a:r>
            <a:r>
              <a:rPr lang="en-IN" sz="1400" kern="100" dirty="0">
                <a:effectLst/>
                <a:latin typeface="Times New Roman" panose="02020603050405020304" pitchFamily="18" charset="0"/>
                <a:ea typeface="Aptos"/>
                <a:cs typeface="Arial" panose="020B0604020202020204" pitchFamily="34" charset="0"/>
              </a:rPr>
              <a:t> Provide a dashboard with real-time analytics—engagement trends, influencer mapping, sentiment tracking, and campaign performance forecasts.</a:t>
            </a:r>
            <a:endParaRPr lang="en-IN" sz="1400" kern="100" dirty="0">
              <a:effectLst/>
              <a:latin typeface="Aptos"/>
              <a:ea typeface="Aptos"/>
              <a:cs typeface="Arial" panose="020B0604020202020204" pitchFamily="34" charset="0"/>
            </a:endParaRPr>
          </a:p>
          <a:p>
            <a:pPr>
              <a:lnSpc>
                <a:spcPct val="115000"/>
              </a:lnSpc>
              <a:spcAft>
                <a:spcPts val="800"/>
              </a:spcAft>
            </a:pPr>
            <a:r>
              <a:rPr lang="en-IN" sz="1600" b="1" kern="100" dirty="0">
                <a:effectLst/>
                <a:latin typeface="Times New Roman" panose="02020603050405020304" pitchFamily="18" charset="0"/>
                <a:ea typeface="Aptos"/>
                <a:cs typeface="Arial" panose="020B0604020202020204" pitchFamily="34" charset="0"/>
              </a:rPr>
              <a:t>Tech Stack (Mandatory)</a:t>
            </a:r>
            <a:endParaRPr lang="en-IN" sz="1400"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1400" kern="100" dirty="0">
                <a:effectLst/>
                <a:latin typeface="Times New Roman" panose="02020603050405020304" pitchFamily="18" charset="0"/>
                <a:ea typeface="Calibri" panose="020F0502020204030204" pitchFamily="34" charset="0"/>
                <a:cs typeface="Arial" panose="020B0604020202020204" pitchFamily="34" charset="0"/>
              </a:rPr>
              <a:t>IBM </a:t>
            </a:r>
            <a:r>
              <a:rPr lang="en-IN" kern="100" dirty="0">
                <a:latin typeface="Times New Roman" panose="02020603050405020304" pitchFamily="18" charset="0"/>
                <a:ea typeface="Calibri" panose="020F0502020204030204" pitchFamily="34" charset="0"/>
                <a:cs typeface="Arial" panose="020B0604020202020204" pitchFamily="34" charset="0"/>
              </a:rPr>
              <a:t>BOB</a:t>
            </a:r>
            <a:r>
              <a:rPr lang="en-IN" sz="1400" kern="100" dirty="0">
                <a:effectLst/>
                <a:latin typeface="Times New Roman" panose="02020603050405020304" pitchFamily="18" charset="0"/>
                <a:ea typeface="Calibri" panose="020F0502020204030204" pitchFamily="34" charset="0"/>
                <a:cs typeface="Arial" panose="020B0604020202020204" pitchFamily="34" charset="0"/>
              </a:rPr>
              <a:t> + IBM Models + LLMs</a:t>
            </a:r>
            <a:endParaRPr lang="en-IN" sz="1400" kern="100" dirty="0">
              <a:effectLst/>
              <a:latin typeface="Aptos"/>
              <a:ea typeface="Aptos"/>
              <a:cs typeface="Arial" panose="020B0604020202020204" pitchFamily="34" charset="0"/>
            </a:endParaRPr>
          </a:p>
        </p:txBody>
      </p:sp>
      <p:sp>
        <p:nvSpPr>
          <p:cNvPr id="9" name="TextBox 8">
            <a:extLst>
              <a:ext uri="{FF2B5EF4-FFF2-40B4-BE49-F238E27FC236}">
                <a16:creationId xmlns:a16="http://schemas.microsoft.com/office/drawing/2014/main" id="{EB360DF7-AF31-4DD2-9A61-50C9A1EAD208}"/>
              </a:ext>
            </a:extLst>
          </p:cNvPr>
          <p:cNvSpPr txBox="1"/>
          <p:nvPr/>
        </p:nvSpPr>
        <p:spPr>
          <a:xfrm>
            <a:off x="716623" y="836980"/>
            <a:ext cx="6097712" cy="324384"/>
          </a:xfrm>
          <a:prstGeom prst="rect">
            <a:avLst/>
          </a:prstGeom>
          <a:noFill/>
        </p:spPr>
        <p:txBody>
          <a:bodyPr wrap="square">
            <a:spAutoFit/>
          </a:bodyPr>
          <a:lstStyle/>
          <a:p>
            <a:pPr>
              <a:lnSpc>
                <a:spcPct val="115000"/>
              </a:lnSpc>
              <a:spcAft>
                <a:spcPts val="800"/>
              </a:spcAft>
            </a:pPr>
            <a:r>
              <a:rPr lang="en-IN" sz="1400" b="1" kern="100" dirty="0">
                <a:effectLst/>
                <a:latin typeface="Times New Roman" panose="02020603050405020304" pitchFamily="18" charset="0"/>
                <a:ea typeface="Aptos"/>
                <a:cs typeface="Arial" panose="020B0604020202020204" pitchFamily="34" charset="0"/>
              </a:rPr>
              <a:t>Problem Statement : Social Media Agent</a:t>
            </a:r>
            <a:endParaRPr lang="en-IN" sz="1200" kern="100" dirty="0">
              <a:effectLst/>
              <a:latin typeface="Aptos"/>
              <a:ea typeface="Aptos"/>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
        <p:nvSpPr>
          <p:cNvPr id="8" name="TextBox 7">
            <a:extLst>
              <a:ext uri="{FF2B5EF4-FFF2-40B4-BE49-F238E27FC236}">
                <a16:creationId xmlns:a16="http://schemas.microsoft.com/office/drawing/2014/main" id="{A0D08A70-70E5-4BEA-BE00-6A5AD872749A}"/>
              </a:ext>
            </a:extLst>
          </p:cNvPr>
          <p:cNvSpPr txBox="1"/>
          <p:nvPr/>
        </p:nvSpPr>
        <p:spPr>
          <a:xfrm>
            <a:off x="576072" y="1182230"/>
            <a:ext cx="10965950" cy="1846659"/>
          </a:xfrm>
          <a:prstGeom prst="rect">
            <a:avLst/>
          </a:prstGeom>
          <a:noFill/>
        </p:spPr>
        <p:txBody>
          <a:bodyPr wrap="square">
            <a:spAutoFit/>
          </a:bodyPr>
          <a:lstStyle/>
          <a:p>
            <a:r>
              <a:rPr lang="en-US" sz="1600" b="1" u="none" strike="noStrike" dirty="0">
                <a:effectLst/>
                <a:latin typeface="Google Sans"/>
              </a:rPr>
              <a:t>Proposed Solution: AI-Powered Social Media Agent</a:t>
            </a:r>
            <a:br>
              <a:rPr lang="en-US" dirty="0"/>
            </a:br>
            <a:r>
              <a:rPr lang="en-US" dirty="0"/>
              <a:t>The proposed solution is a </a:t>
            </a:r>
            <a:r>
              <a:rPr lang="en-US" b="1" u="none" strike="noStrike" dirty="0">
                <a:effectLst/>
                <a:latin typeface="Google Sans"/>
              </a:rPr>
              <a:t>multi-agent AI-powered Social Media Agent built using IBM </a:t>
            </a:r>
            <a:r>
              <a:rPr lang="en-US" b="1" u="none" strike="noStrike" dirty="0" err="1">
                <a:effectLst/>
                <a:latin typeface="Google Sans"/>
              </a:rPr>
              <a:t>Langflow</a:t>
            </a:r>
            <a:r>
              <a:rPr lang="en-US" b="1" u="none" strike="noStrike" dirty="0">
                <a:effectLst/>
                <a:latin typeface="Google Sans"/>
              </a:rPr>
              <a:t>, IBM watsonx.ai, and Granite Models</a:t>
            </a:r>
            <a:r>
              <a:rPr lang="en-US" dirty="0"/>
              <a:t> to provide personalized, real-time marketing guidance. The system addresses challenges in multichannel data fusion, digital asset generation, and predictive trend tracking through an intelligent, modular architecture.</a:t>
            </a:r>
            <a:br>
              <a:rPr lang="en-US" dirty="0"/>
            </a:br>
            <a:r>
              <a:rPr lang="en-US" dirty="0"/>
              <a:t>At its core, the solution uses a </a:t>
            </a:r>
            <a:r>
              <a:rPr lang="en-US" b="1" u="none" strike="noStrike" dirty="0">
                <a:effectLst/>
                <a:latin typeface="Google Sans"/>
              </a:rPr>
              <a:t>Retrieval-Augmented Generation (RAG) and Orchestration</a:t>
            </a:r>
            <a:r>
              <a:rPr lang="en-US" dirty="0"/>
              <a:t> pipeline to fetch accurate performance metrics, historical metrics, and trending topics from trusted sources such as X, LinkedIn, Instagram, and Facebook API streams. This data is embedded and stored in a vector database, enabling the system to retrieve and summarize channel activity and sentiment details using Granite models.</a:t>
            </a:r>
            <a:endParaRPr lang="en-IN" dirty="0"/>
          </a:p>
        </p:txBody>
      </p:sp>
      <p:sp>
        <p:nvSpPr>
          <p:cNvPr id="13" name="TextBox 12">
            <a:extLst>
              <a:ext uri="{FF2B5EF4-FFF2-40B4-BE49-F238E27FC236}">
                <a16:creationId xmlns:a16="http://schemas.microsoft.com/office/drawing/2014/main" id="{97823F08-A6B4-4617-887B-F504C55E55EF}"/>
              </a:ext>
            </a:extLst>
          </p:cNvPr>
          <p:cNvSpPr txBox="1"/>
          <p:nvPr/>
        </p:nvSpPr>
        <p:spPr>
          <a:xfrm>
            <a:off x="551380" y="2951947"/>
            <a:ext cx="10787146" cy="1815882"/>
          </a:xfrm>
          <a:prstGeom prst="rect">
            <a:avLst/>
          </a:prstGeom>
          <a:noFill/>
        </p:spPr>
        <p:txBody>
          <a:bodyPr wrap="square">
            <a:spAutoFit/>
          </a:bodyPr>
          <a:lstStyle/>
          <a:p>
            <a:r>
              <a:rPr lang="en-US" dirty="0"/>
              <a:t>The system consists of four key agents:</a:t>
            </a:r>
            <a:br>
              <a:rPr lang="en-US" dirty="0"/>
            </a:br>
            <a:r>
              <a:rPr lang="en-US" b="1" u="none" strike="noStrike" dirty="0">
                <a:effectLst/>
                <a:latin typeface="Google Sans"/>
              </a:rPr>
              <a:t>Multichannel Data Fusion Agent</a:t>
            </a:r>
            <a:r>
              <a:rPr lang="en-US" dirty="0"/>
              <a:t> retrieves and summarizes brand engagement metrics and across-the-board text updates using RAG.</a:t>
            </a:r>
            <a:br>
              <a:rPr lang="en-US" dirty="0"/>
            </a:br>
            <a:r>
              <a:rPr lang="en-US" b="1" u="none" strike="noStrike" dirty="0">
                <a:effectLst/>
                <a:latin typeface="Google Sans"/>
              </a:rPr>
              <a:t>AI Content Recommendation Agent</a:t>
            </a:r>
            <a:r>
              <a:rPr lang="en-US" dirty="0"/>
              <a:t> generates personalized post drafts and creative strategies based on user inputs such as target audience demographics, historical brand tone, and campaign goals.</a:t>
            </a:r>
            <a:br>
              <a:rPr lang="en-US" dirty="0"/>
            </a:br>
            <a:r>
              <a:rPr lang="en-US" b="1" u="none" strike="noStrike" dirty="0">
                <a:effectLst/>
                <a:latin typeface="Google Sans"/>
              </a:rPr>
              <a:t>Predictive Trend Advisory Agent</a:t>
            </a:r>
            <a:r>
              <a:rPr lang="en-US" dirty="0"/>
              <a:t> provides foresight suggestions, including platform-specific scheduling updates (e.g., best times to post or high-impact hashtag recommendations).</a:t>
            </a:r>
            <a:br>
              <a:rPr lang="en-US" dirty="0"/>
            </a:br>
            <a:r>
              <a:rPr lang="en-US" b="1" u="none" strike="noStrike" dirty="0">
                <a:effectLst/>
                <a:latin typeface="Google Sans"/>
              </a:rPr>
              <a:t>Multimodal Log &amp; Feedback Agent</a:t>
            </a:r>
            <a:r>
              <a:rPr lang="en-US" dirty="0"/>
              <a:t> allows users to input ideas via text, voice, or images and delivers instant performance analysis and copy-optimization options with actionable feedback.</a:t>
            </a:r>
            <a:endParaRPr lang="en-IN" dirty="0"/>
          </a:p>
        </p:txBody>
      </p:sp>
      <p:sp>
        <p:nvSpPr>
          <p:cNvPr id="15" name="TextBox 14">
            <a:extLst>
              <a:ext uri="{FF2B5EF4-FFF2-40B4-BE49-F238E27FC236}">
                <a16:creationId xmlns:a16="http://schemas.microsoft.com/office/drawing/2014/main" id="{81DB45A4-8CD3-4015-8D9A-F95C1211DA70}"/>
              </a:ext>
            </a:extLst>
          </p:cNvPr>
          <p:cNvSpPr txBox="1"/>
          <p:nvPr/>
        </p:nvSpPr>
        <p:spPr>
          <a:xfrm>
            <a:off x="551380" y="4784307"/>
            <a:ext cx="10965950" cy="1384995"/>
          </a:xfrm>
          <a:prstGeom prst="rect">
            <a:avLst/>
          </a:prstGeom>
          <a:noFill/>
        </p:spPr>
        <p:txBody>
          <a:bodyPr wrap="square">
            <a:spAutoFit/>
          </a:bodyPr>
          <a:lstStyle/>
          <a:p>
            <a:r>
              <a:rPr lang="en-US" dirty="0"/>
              <a:t>The solution includes a </a:t>
            </a:r>
            <a:r>
              <a:rPr lang="en-US" b="1" u="none" strike="noStrike" dirty="0">
                <a:effectLst/>
                <a:latin typeface="Google Sans"/>
              </a:rPr>
              <a:t>user-friendly dashboard</a:t>
            </a:r>
            <a:r>
              <a:rPr lang="en-US" dirty="0"/>
              <a:t> (built with Tailwind CSS and React) that visualizes daily and weekly engagement trends, highlights competitor activities, and tracks progress toward brand outreach targets.</a:t>
            </a:r>
            <a:br>
              <a:rPr lang="en-US" dirty="0"/>
            </a:br>
            <a:r>
              <a:rPr lang="en-US" b="1" u="none" strike="noStrike" dirty="0">
                <a:effectLst/>
                <a:latin typeface="Google Sans"/>
              </a:rPr>
              <a:t>IBM </a:t>
            </a:r>
            <a:r>
              <a:rPr lang="en-US" b="1" u="none" strike="noStrike" dirty="0" err="1">
                <a:effectLst/>
                <a:latin typeface="Google Sans"/>
              </a:rPr>
              <a:t>Langflow</a:t>
            </a:r>
            <a:r>
              <a:rPr lang="en-US" b="1" u="none" strike="noStrike" dirty="0">
                <a:effectLst/>
                <a:latin typeface="Google Sans"/>
              </a:rPr>
              <a:t> / IBM Orchestrate</a:t>
            </a:r>
            <a:r>
              <a:rPr lang="en-US" dirty="0"/>
              <a:t> is used to coordinate agent workflows, while </a:t>
            </a:r>
            <a:r>
              <a:rPr lang="en-US" b="1" u="none" strike="noStrike" dirty="0">
                <a:effectLst/>
                <a:latin typeface="Google Sans"/>
              </a:rPr>
              <a:t>watsonx.ai</a:t>
            </a:r>
            <a:r>
              <a:rPr lang="en-US" dirty="0"/>
              <a:t> ensures scalable model deployment, embeddings, and AI governance. </a:t>
            </a:r>
            <a:r>
              <a:rPr lang="en-US" b="1" u="none" strike="noStrike" dirty="0">
                <a:effectLst/>
                <a:latin typeface="Google Sans"/>
              </a:rPr>
              <a:t>Granite models</a:t>
            </a:r>
            <a:r>
              <a:rPr lang="en-US" dirty="0"/>
              <a:t> power advanced reasoning, automated caption summarization, and creative personalization.</a:t>
            </a:r>
            <a:br>
              <a:rPr lang="en-US" dirty="0"/>
            </a:br>
            <a:r>
              <a:rPr lang="en-US" dirty="0"/>
              <a:t>Overall, this solution delivers an </a:t>
            </a:r>
            <a:r>
              <a:rPr lang="en-US" b="1" u="none" strike="noStrike" dirty="0">
                <a:effectLst/>
                <a:latin typeface="Google Sans"/>
              </a:rPr>
              <a:t>end-to-end intelligent marketing assistant</a:t>
            </a:r>
            <a:r>
              <a:rPr lang="en-US" dirty="0"/>
              <a:t> that promotes agile brand growth through data-driven insight frameworks, real-time creative feedback, and predictive optimization strategies.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7" name="Rectangle 6">
            <a:extLst>
              <a:ext uri="{FF2B5EF4-FFF2-40B4-BE49-F238E27FC236}">
                <a16:creationId xmlns:a16="http://schemas.microsoft.com/office/drawing/2014/main" id="{C69857D0-FC2F-4DF9-872F-057543118CD8}"/>
              </a:ext>
            </a:extLst>
          </p:cNvPr>
          <p:cNvSpPr>
            <a:spLocks noChangeArrowheads="1"/>
          </p:cNvSpPr>
          <p:nvPr/>
        </p:nvSpPr>
        <p:spPr bwMode="auto">
          <a:xfrm>
            <a:off x="852755" y="1408204"/>
            <a:ext cx="1067484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IBM </a:t>
            </a:r>
            <a:r>
              <a:rPr kumimoji="0" lang="en-US" altLang="en-US" sz="1800" b="1" i="0" u="none" strike="noStrike" cap="none" normalizeH="0" baseline="0" dirty="0" err="1">
                <a:ln>
                  <a:noFill/>
                </a:ln>
                <a:solidFill>
                  <a:schemeClr val="tx1"/>
                </a:solidFill>
                <a:effectLst/>
                <a:latin typeface="Google Sans"/>
              </a:rPr>
              <a:t>Langflow</a:t>
            </a:r>
            <a:r>
              <a:rPr kumimoji="0" lang="en-US" altLang="en-US" sz="1800" b="1" i="0" u="none" strike="noStrike" cap="none" normalizeH="0" baseline="0" dirty="0">
                <a:ln>
                  <a:noFill/>
                </a:ln>
                <a:solidFill>
                  <a:schemeClr val="tx1"/>
                </a:solidFill>
                <a:effectLst/>
                <a:latin typeface="Google Sans"/>
              </a:rPr>
              <a:t> / IBM Orchestrate</a:t>
            </a:r>
            <a:r>
              <a:rPr kumimoji="0" lang="en-US" altLang="en-US" sz="1800" b="0" i="0" u="none" strike="noStrike" cap="none" normalizeH="0" baseline="0" dirty="0">
                <a:ln>
                  <a:noFill/>
                </a:ln>
                <a:solidFill>
                  <a:schemeClr val="tx1"/>
                </a:solidFill>
                <a:effectLst/>
                <a:latin typeface="Google Sans"/>
              </a:rPr>
              <a:t> – For designing and orchestrating multi-agent marketing workflows visually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IBM Granite model</a:t>
            </a:r>
            <a:r>
              <a:rPr kumimoji="0" lang="en-US" altLang="en-US" sz="1800" b="0" i="0" u="none" strike="noStrike" cap="none" normalizeH="0" baseline="0" dirty="0">
                <a:ln>
                  <a:noFill/>
                </a:ln>
                <a:solidFill>
                  <a:schemeClr val="tx1"/>
                </a:solidFill>
                <a:effectLst/>
                <a:latin typeface="Google Sans"/>
              </a:rPr>
              <a:t> – (e.g., </a:t>
            </a: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ibm-granite-3-2-8b</a:t>
            </a:r>
            <a:r>
              <a:rPr kumimoji="0" lang="en-US" altLang="en-US" sz="1800" b="0" i="0" u="none" strike="noStrike" cap="none" normalizeH="0" baseline="0" dirty="0">
                <a:ln>
                  <a:noFill/>
                </a:ln>
                <a:solidFill>
                  <a:schemeClr val="tx1"/>
                </a:solidFill>
                <a:effectLst/>
                <a:latin typeface="Google Sans"/>
              </a:rPr>
              <a:t>) – For natural language understanding, creative copywriting, reasoning, and campaign personalization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IBM Cloud</a:t>
            </a:r>
            <a:r>
              <a:rPr kumimoji="0" lang="en-US" altLang="en-US" sz="1800" b="0" i="0" u="none" strike="noStrike" cap="none" normalizeH="0" baseline="0" dirty="0">
                <a:ln>
                  <a:noFill/>
                </a:ln>
                <a:solidFill>
                  <a:schemeClr val="tx1"/>
                </a:solidFill>
                <a:effectLst/>
                <a:latin typeface="Google Sans"/>
              </a:rPr>
              <a:t> – It provides the infrastructure to build, deploy, and scale the Social Media Agent efficiently. IBM Cloud enables a </a:t>
            </a:r>
            <a:r>
              <a:rPr kumimoji="0" lang="en-US" altLang="en-US" sz="1800" b="1" i="0" u="none" strike="noStrike" cap="none" normalizeH="0" baseline="0" dirty="0">
                <a:ln>
                  <a:noFill/>
                </a:ln>
                <a:solidFill>
                  <a:schemeClr val="tx1"/>
                </a:solidFill>
                <a:effectLst/>
                <a:latin typeface="Google Sans"/>
              </a:rPr>
              <a:t>reliable, secure, and scalable environment</a:t>
            </a:r>
            <a:r>
              <a:rPr kumimoji="0" lang="en-US" altLang="en-US" sz="1800" b="0" i="0" u="none" strike="noStrike" cap="none" normalizeH="0" baseline="0" dirty="0">
                <a:ln>
                  <a:noFill/>
                </a:ln>
                <a:solidFill>
                  <a:schemeClr val="tx1"/>
                </a:solidFill>
                <a:effectLst/>
                <a:latin typeface="Google Sans"/>
              </a:rPr>
              <a:t> for deploying the Social Media Agent.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RAG</a:t>
            </a:r>
            <a:r>
              <a:rPr kumimoji="0" lang="en-US" altLang="en-US" sz="1800" b="0" i="0" u="none" strike="noStrike" cap="none" normalizeH="0" baseline="0" dirty="0">
                <a:ln>
                  <a:noFill/>
                </a:ln>
                <a:solidFill>
                  <a:schemeClr val="tx1"/>
                </a:solidFill>
                <a:effectLst/>
                <a:latin typeface="Google Sans"/>
              </a:rPr>
              <a:t> – RAG to fetch real-time cross-channel platform data first, then generate intelligent answers and trend reports, making the Social Media Agent more trustworthy and effective.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E2A964FB-B675-485B-82BB-9F894A55D7CF}"/>
              </a:ext>
            </a:extLst>
          </p:cNvPr>
          <p:cNvSpPr>
            <a:spLocks noChangeArrowheads="1"/>
          </p:cNvSpPr>
          <p:nvPr/>
        </p:nvSpPr>
        <p:spPr bwMode="auto">
          <a:xfrm>
            <a:off x="852755" y="3926302"/>
            <a:ext cx="8938516" cy="207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IBM Watsonx.ai</a:t>
            </a:r>
            <a:r>
              <a:rPr kumimoji="0" lang="en-US" altLang="en-US" sz="1800" b="0" i="0" u="none" strike="noStrike" cap="none" normalizeH="0" baseline="0" dirty="0">
                <a:ln>
                  <a:noFill/>
                </a:ln>
                <a:solidFill>
                  <a:schemeClr val="tx1"/>
                </a:solidFill>
                <a:effectLst/>
                <a:latin typeface="Google Sans"/>
              </a:rPr>
              <a:t> – For model deployment, embeddings, and AI governance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Vector Database (FAISS/Chroma)</a:t>
            </a:r>
            <a:r>
              <a:rPr kumimoji="0" lang="en-US" altLang="en-US" sz="1800" b="0" i="0" u="none" strike="noStrike" cap="none" normalizeH="0" baseline="0" dirty="0">
                <a:ln>
                  <a:noFill/>
                </a:ln>
                <a:solidFill>
                  <a:schemeClr val="tx1"/>
                </a:solidFill>
                <a:effectLst/>
                <a:latin typeface="Google Sans"/>
              </a:rPr>
              <a:t> – For RAG-based historical performance and trending hashtag retrieval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Required Files created using IBM bob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4739759"/>
          </a:xfrm>
          <a:prstGeom prst="rect">
            <a:avLst/>
          </a:prstGeom>
          <a:noFill/>
          <a:ln>
            <a:noFill/>
          </a:ln>
        </p:spPr>
        <p:txBody>
          <a:bodyPr spcFirstLastPara="1" wrap="square" lIns="91425" tIns="45700" rIns="91425" bIns="45700" anchor="t" anchorCtr="0">
            <a:spAutoFit/>
          </a:bodyPr>
          <a:lstStyle/>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a:solidFill>
                  <a:srgbClr val="000000"/>
                </a:solidFill>
                <a:latin typeface="Arial"/>
                <a:ea typeface="Arial"/>
                <a:cs typeface="Arial"/>
                <a:sym typeface="Arial"/>
              </a:rPr>
              <a:t>App.py</a:t>
            </a:r>
            <a:endParaRPr dirty="0"/>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a:solidFill>
                  <a:srgbClr val="000000"/>
                </a:solidFill>
                <a:latin typeface="Arial"/>
                <a:ea typeface="Arial"/>
                <a:cs typeface="Arial"/>
                <a:sym typeface="Arial"/>
              </a:rPr>
              <a:t>Requirements.txt</a:t>
            </a:r>
            <a:endParaRPr dirty="0"/>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a:solidFill>
                  <a:srgbClr val="000000"/>
                </a:solidFill>
                <a:latin typeface="Arial"/>
                <a:ea typeface="Arial"/>
                <a:cs typeface="Arial"/>
                <a:sym typeface="Arial"/>
              </a:rPr>
              <a:t>Style.css </a:t>
            </a:r>
            <a:endParaRPr dirty="0"/>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a:solidFill>
                  <a:srgbClr val="000000"/>
                </a:solidFill>
                <a:latin typeface="Arial"/>
                <a:ea typeface="Arial"/>
                <a:cs typeface="Arial"/>
                <a:sym typeface="Arial"/>
              </a:rPr>
              <a:t>.env</a:t>
            </a:r>
            <a:endParaRPr dirty="0"/>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a:solidFill>
                  <a:srgbClr val="000000"/>
                </a:solidFill>
                <a:latin typeface="Arial"/>
                <a:ea typeface="Arial"/>
                <a:cs typeface="Arial"/>
                <a:sym typeface="Arial"/>
              </a:rPr>
              <a:t>Index.html</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4AB2F6A9-F3EC-404A-B41B-37829E230D2F}"/>
              </a:ext>
            </a:extLst>
          </p:cNvPr>
          <p:cNvPicPr>
            <a:picLocks noChangeAspect="1"/>
          </p:cNvPicPr>
          <p:nvPr/>
        </p:nvPicPr>
        <p:blipFill>
          <a:blip r:embed="rId3"/>
          <a:stretch>
            <a:fillRect/>
          </a:stretch>
        </p:blipFill>
        <p:spPr>
          <a:xfrm>
            <a:off x="3037220" y="1489613"/>
            <a:ext cx="8731956" cy="46224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i="0" u="none" strike="noStrike" cap="none">
              <a:solidFill>
                <a:srgbClr val="000000"/>
              </a:solidFill>
              <a:latin typeface="Arial"/>
              <a:ea typeface="Arial"/>
              <a:cs typeface="Arial"/>
              <a:sym typeface="Arial"/>
            </a:endParaRPr>
          </a:p>
        </p:txBody>
      </p:sp>
      <p:pic>
        <p:nvPicPr>
          <p:cNvPr id="6" name="Picture 5">
            <a:extLst>
              <a:ext uri="{FF2B5EF4-FFF2-40B4-BE49-F238E27FC236}">
                <a16:creationId xmlns:a16="http://schemas.microsoft.com/office/drawing/2014/main" id="{207525AB-6BA1-4F5B-808B-56B7FD656D2F}"/>
              </a:ext>
            </a:extLst>
          </p:cNvPr>
          <p:cNvPicPr>
            <a:picLocks noChangeAspect="1"/>
          </p:cNvPicPr>
          <p:nvPr/>
        </p:nvPicPr>
        <p:blipFill>
          <a:blip r:embed="rId3"/>
          <a:stretch>
            <a:fillRect/>
          </a:stretch>
        </p:blipFill>
        <p:spPr>
          <a:xfrm>
            <a:off x="688369" y="1005295"/>
            <a:ext cx="10263883" cy="54334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3" name="Picture 2">
            <a:extLst>
              <a:ext uri="{FF2B5EF4-FFF2-40B4-BE49-F238E27FC236}">
                <a16:creationId xmlns:a16="http://schemas.microsoft.com/office/drawing/2014/main" id="{AE732929-0238-42F0-B95A-DDE639550A04}"/>
              </a:ext>
            </a:extLst>
          </p:cNvPr>
          <p:cNvPicPr>
            <a:picLocks noChangeAspect="1"/>
          </p:cNvPicPr>
          <p:nvPr/>
        </p:nvPicPr>
        <p:blipFill>
          <a:blip r:embed="rId3"/>
          <a:stretch>
            <a:fillRect/>
          </a:stretch>
        </p:blipFill>
        <p:spPr>
          <a:xfrm>
            <a:off x="783729" y="497290"/>
            <a:ext cx="10624542" cy="58634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8" name="Google Shape;14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A6A34FB7-F7E2-4F04-87FF-E4AF23373757}"/>
              </a:ext>
            </a:extLst>
          </p:cNvPr>
          <p:cNvSpPr txBox="1"/>
          <p:nvPr/>
        </p:nvSpPr>
        <p:spPr>
          <a:xfrm>
            <a:off x="481002" y="1167493"/>
            <a:ext cx="7432159" cy="2092881"/>
          </a:xfrm>
          <a:prstGeom prst="rect">
            <a:avLst/>
          </a:prstGeom>
          <a:noFill/>
        </p:spPr>
        <p:txBody>
          <a:bodyPr wrap="square">
            <a:spAutoFit/>
          </a:bodyPr>
          <a:lstStyle/>
          <a:p>
            <a:r>
              <a:rPr lang="en-US" sz="1800" b="1" u="none" strike="noStrike" dirty="0">
                <a:effectLst/>
                <a:latin typeface="Google Sans"/>
              </a:rPr>
              <a:t>Role of Agentic AI in Social Media Agent</a:t>
            </a:r>
            <a:br>
              <a:rPr lang="en-US" sz="1600" b="0" u="none" strike="noStrike" dirty="0">
                <a:effectLst/>
                <a:latin typeface="Google Sans"/>
              </a:rPr>
            </a:br>
            <a:r>
              <a:rPr lang="en-US" sz="1600" b="1" u="none" strike="noStrike" dirty="0">
                <a:effectLst/>
                <a:latin typeface="Google Sans"/>
              </a:rPr>
              <a:t>Agentic AI</a:t>
            </a:r>
            <a:r>
              <a:rPr lang="en-US" sz="1600" b="0" u="none" strike="noStrike" dirty="0">
                <a:effectLst/>
                <a:latin typeface="Google Sans"/>
              </a:rPr>
              <a:t> enables the Social Media Agent to function as an intelligent, autonomous system rather than a simple chatbot. Using </a:t>
            </a:r>
            <a:r>
              <a:rPr lang="en-US" sz="1600" b="1" u="none" strike="noStrike" dirty="0">
                <a:effectLst/>
                <a:latin typeface="Google Sans"/>
              </a:rPr>
              <a:t>IBM watsonx.ai</a:t>
            </a:r>
            <a:r>
              <a:rPr lang="en-US" sz="1600" b="0" u="none" strike="noStrike" dirty="0">
                <a:effectLst/>
                <a:latin typeface="Google Sans"/>
              </a:rPr>
              <a:t> and </a:t>
            </a:r>
            <a:r>
              <a:rPr lang="en-US" sz="1600" b="1" u="none" strike="noStrike" dirty="0">
                <a:effectLst/>
                <a:latin typeface="Google Sans"/>
              </a:rPr>
              <a:t>IBM Granite models</a:t>
            </a:r>
            <a:r>
              <a:rPr lang="en-US" sz="1600" b="0" u="none" strike="noStrike" dirty="0">
                <a:effectLst/>
                <a:latin typeface="Google Sans"/>
              </a:rPr>
              <a:t>, it coordinates multiple specialized agents to deliver personalized social media guidance. Each agent performs a specific role—such as retrieving multichannel data, generating creative post drafts, tracking competitor strategies, and analyzing audience sentiment—while working collaboratively. This </a:t>
            </a:r>
            <a:r>
              <a:rPr lang="en-US" sz="1600" b="1" u="none" strike="noStrike" dirty="0">
                <a:effectLst/>
                <a:latin typeface="Google Sans"/>
              </a:rPr>
              <a:t>multi-agent approach</a:t>
            </a:r>
            <a:r>
              <a:rPr lang="en-US" sz="1600" b="0" u="none" strike="noStrike" dirty="0">
                <a:effectLst/>
                <a:latin typeface="Google Sans"/>
              </a:rPr>
              <a:t> ensures efficient task execution and accurate results.</a:t>
            </a:r>
          </a:p>
        </p:txBody>
      </p:sp>
      <p:sp>
        <p:nvSpPr>
          <p:cNvPr id="3" name="Rectangle 1">
            <a:extLst>
              <a:ext uri="{FF2B5EF4-FFF2-40B4-BE49-F238E27FC236}">
                <a16:creationId xmlns:a16="http://schemas.microsoft.com/office/drawing/2014/main" id="{B38B7AFC-108C-498D-B614-3558316BB04C}"/>
              </a:ext>
            </a:extLst>
          </p:cNvPr>
          <p:cNvSpPr>
            <a:spLocks noChangeArrowheads="1"/>
          </p:cNvSpPr>
          <p:nvPr/>
        </p:nvSpPr>
        <p:spPr bwMode="auto">
          <a:xfrm>
            <a:off x="572782" y="2983375"/>
            <a:ext cx="7112288" cy="2903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a:rPr>
              <a:t>Agentic AI also brings </a:t>
            </a:r>
            <a:r>
              <a:rPr kumimoji="0" lang="en-US" altLang="en-US" sz="1600" b="1" i="0" u="none" strike="noStrike" cap="none" normalizeH="0" baseline="0" dirty="0">
                <a:ln>
                  <a:noFill/>
                </a:ln>
                <a:solidFill>
                  <a:schemeClr val="tx1"/>
                </a:solidFill>
                <a:effectLst/>
                <a:latin typeface="Google Sans"/>
              </a:rPr>
              <a:t>context awareness</a:t>
            </a:r>
            <a:r>
              <a:rPr kumimoji="0" lang="en-US" altLang="en-US" sz="1600" b="0" i="0" u="none" strike="noStrike" cap="none" normalizeH="0" baseline="0" dirty="0">
                <a:ln>
                  <a:noFill/>
                </a:ln>
                <a:solidFill>
                  <a:schemeClr val="tx1"/>
                </a:solidFill>
                <a:effectLst/>
                <a:latin typeface="Google Sans"/>
              </a:rPr>
              <a:t>, understanding brand identity like tone of voice, campaign guidelines, and target demographics to generate tailored recommendations. It supports </a:t>
            </a:r>
            <a:r>
              <a:rPr kumimoji="0" lang="en-US" altLang="en-US" sz="1600" b="1" i="0" u="none" strike="noStrike" cap="none" normalizeH="0" baseline="0" dirty="0">
                <a:ln>
                  <a:noFill/>
                </a:ln>
                <a:solidFill>
                  <a:schemeClr val="tx1"/>
                </a:solidFill>
                <a:effectLst/>
                <a:latin typeface="Google Sans"/>
              </a:rPr>
              <a:t>real-time adaptation</a:t>
            </a:r>
            <a:r>
              <a:rPr kumimoji="0" lang="en-US" altLang="en-US" sz="1600" b="0" i="0" u="none" strike="noStrike" cap="none" normalizeH="0" baseline="0" dirty="0">
                <a:ln>
                  <a:noFill/>
                </a:ln>
                <a:solidFill>
                  <a:schemeClr val="tx1"/>
                </a:solidFill>
                <a:effectLst/>
                <a:latin typeface="Google Sans"/>
              </a:rPr>
              <a:t>, continuously updating posting schedules and hashtag strategies based on trending user signals. Additionally, agents communicate with each other, enabling better decision-making and improved campaign outcomes.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a:rPr>
              <a:t>Overall, Agentic AI makes the system proactive, personalized, and goal-driven, acting like a </a:t>
            </a:r>
            <a:r>
              <a:rPr kumimoji="0" lang="en-US" altLang="en-US" sz="1600" b="1" i="0" u="none" strike="noStrike" cap="none" normalizeH="0" baseline="0" dirty="0">
                <a:ln>
                  <a:noFill/>
                </a:ln>
                <a:solidFill>
                  <a:schemeClr val="tx1"/>
                </a:solidFill>
                <a:effectLst/>
                <a:latin typeface="Google Sans"/>
              </a:rPr>
              <a:t>smart digital companion</a:t>
            </a:r>
            <a:r>
              <a:rPr kumimoji="0" lang="en-US" altLang="en-US" sz="1600" b="0" i="0" u="none" strike="noStrike" cap="none" normalizeH="0" baseline="0" dirty="0">
                <a:ln>
                  <a:noFill/>
                </a:ln>
                <a:solidFill>
                  <a:schemeClr val="tx1"/>
                </a:solidFill>
                <a:effectLst/>
                <a:latin typeface="Google Sans"/>
              </a:rPr>
              <a:t> that helps brands maintain a powerful online presence.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401818A-836E-4158-8EEF-FCE20D544320}"/>
              </a:ext>
            </a:extLst>
          </p:cNvPr>
          <p:cNvPicPr>
            <a:picLocks noChangeAspect="1"/>
          </p:cNvPicPr>
          <p:nvPr/>
        </p:nvPicPr>
        <p:blipFill rotWithShape="1">
          <a:blip r:embed="rId3"/>
          <a:srcRect l="67336" t="17025" r="2910" b="17902"/>
          <a:stretch/>
        </p:blipFill>
        <p:spPr>
          <a:xfrm>
            <a:off x="8209052" y="1167493"/>
            <a:ext cx="3626777" cy="44627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1"/>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68" name="Google Shape;168;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6AAE8F9-1BB6-4EDA-8648-D1DC07AED6A4}"/>
              </a:ext>
            </a:extLst>
          </p:cNvPr>
          <p:cNvPicPr>
            <a:picLocks noChangeAspect="1"/>
          </p:cNvPicPr>
          <p:nvPr/>
        </p:nvPicPr>
        <p:blipFill>
          <a:blip r:embed="rId3"/>
          <a:stretch>
            <a:fillRect/>
          </a:stretch>
        </p:blipFill>
        <p:spPr>
          <a:xfrm>
            <a:off x="883578" y="816977"/>
            <a:ext cx="10878730" cy="57316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2"/>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78" name="Google Shape;17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80" name="Google Shape;18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DB9197F-826F-4D91-9467-8616544BABBA}"/>
              </a:ext>
            </a:extLst>
          </p:cNvPr>
          <p:cNvPicPr>
            <a:picLocks noChangeAspect="1"/>
          </p:cNvPicPr>
          <p:nvPr/>
        </p:nvPicPr>
        <p:blipFill>
          <a:blip r:embed="rId3"/>
          <a:stretch>
            <a:fillRect/>
          </a:stretch>
        </p:blipFill>
        <p:spPr>
          <a:xfrm>
            <a:off x="409144" y="917225"/>
            <a:ext cx="10806950" cy="5308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43"/>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88" name="Google Shape;188;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89" name="Google Shape;189;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90" name="Google Shape;190;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287FE66-7238-4F36-A5B0-61DA568A1C4D}"/>
              </a:ext>
            </a:extLst>
          </p:cNvPr>
          <p:cNvPicPr>
            <a:picLocks noChangeAspect="1"/>
          </p:cNvPicPr>
          <p:nvPr/>
        </p:nvPicPr>
        <p:blipFill>
          <a:blip r:embed="rId3"/>
          <a:stretch>
            <a:fillRect/>
          </a:stretch>
        </p:blipFill>
        <p:spPr>
          <a:xfrm>
            <a:off x="928099" y="816977"/>
            <a:ext cx="10335802" cy="58074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4"/>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501AC59E-2A17-4F15-AEE5-72F538D305BF}"/>
              </a:ext>
            </a:extLst>
          </p:cNvPr>
          <p:cNvSpPr>
            <a:spLocks noChangeArrowheads="1"/>
          </p:cNvSpPr>
          <p:nvPr/>
        </p:nvSpPr>
        <p:spPr bwMode="auto">
          <a:xfrm>
            <a:off x="777240" y="1007926"/>
            <a:ext cx="10072271" cy="5365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a:rPr>
              <a:t>Novelty and Uniqueness</a:t>
            </a: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a:rPr>
              <a:t>The proposed Social Media Agent stands out by combining </a:t>
            </a:r>
            <a:r>
              <a:rPr kumimoji="0" lang="en-US" altLang="en-US" sz="1600" b="1" i="0" u="none" strike="noStrike" cap="none" normalizeH="0" baseline="0" dirty="0">
                <a:ln>
                  <a:noFill/>
                </a:ln>
                <a:solidFill>
                  <a:schemeClr val="tx1"/>
                </a:solidFill>
                <a:effectLst/>
                <a:latin typeface="Google Sans"/>
              </a:rPr>
              <a:t>Agentic AI, RAG, and personalization</a:t>
            </a:r>
            <a:r>
              <a:rPr kumimoji="0" lang="en-US" altLang="en-US" sz="1600" b="0" i="0" u="none" strike="noStrike" cap="none" normalizeH="0" baseline="0" dirty="0">
                <a:ln>
                  <a:noFill/>
                </a:ln>
                <a:solidFill>
                  <a:schemeClr val="tx1"/>
                </a:solidFill>
                <a:effectLst/>
                <a:latin typeface="Google Sans"/>
              </a:rPr>
              <a:t> into a single intelligent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Multi-Agent Intelligence</a:t>
            </a:r>
            <a:r>
              <a:rPr kumimoji="0" lang="en-US" altLang="en-US" sz="1600" b="0" i="0" u="none" strike="noStrike" cap="none" normalizeH="0" baseline="0" dirty="0">
                <a:ln>
                  <a:noFill/>
                </a:ln>
                <a:solidFill>
                  <a:schemeClr val="tx1"/>
                </a:solidFill>
                <a:effectLst/>
                <a:latin typeface="Google Sans"/>
              </a:rPr>
              <a:t> – Instead of a simple chatbot, multiple specialized agents collaborate to deliver accurate and context-aware marketing guidance.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RAG-Based Accuracy</a:t>
            </a:r>
            <a:r>
              <a:rPr kumimoji="0" lang="en-US" altLang="en-US" sz="1600" b="0" i="0" u="none" strike="noStrike" cap="none" normalizeH="0" baseline="0" dirty="0">
                <a:ln>
                  <a:noFill/>
                </a:ln>
                <a:solidFill>
                  <a:schemeClr val="tx1"/>
                </a:solidFill>
                <a:effectLst/>
                <a:latin typeface="Google Sans"/>
              </a:rPr>
              <a:t> – Integrates real-time live web and platform data retrieval with AI generation, reducing misinformation and ensuring trustworthy trends and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Hyper-Personalization</a:t>
            </a:r>
            <a:r>
              <a:rPr kumimoji="0" lang="en-US" altLang="en-US" sz="1600" b="0" i="0" u="none" strike="noStrike" cap="none" normalizeH="0" baseline="0" dirty="0">
                <a:ln>
                  <a:noFill/>
                </a:ln>
                <a:solidFill>
                  <a:schemeClr val="tx1"/>
                </a:solidFill>
                <a:effectLst/>
                <a:latin typeface="Google Sans"/>
              </a:rPr>
              <a:t> – Tailors content, campaign ideas, and recommendations based on specific brand guidelines, target demographics, and industry niches.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Real-Time Feedback Loop</a:t>
            </a:r>
            <a:r>
              <a:rPr kumimoji="0" lang="en-US" altLang="en-US" sz="1600" b="0" i="0" u="none" strike="noStrike" cap="none" normalizeH="0" baseline="0" dirty="0">
                <a:ln>
                  <a:noFill/>
                </a:ln>
                <a:solidFill>
                  <a:schemeClr val="tx1"/>
                </a:solidFill>
                <a:effectLst/>
                <a:latin typeface="Google Sans"/>
              </a:rPr>
              <a:t> – Continuously adapts posting schedules and hashtag strategies based on daily audience behavior and active engagement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Multi-Modal Input</a:t>
            </a:r>
            <a:r>
              <a:rPr kumimoji="0" lang="en-US" altLang="en-US" sz="1600" b="0" i="0" u="none" strike="noStrike" cap="none" normalizeH="0" baseline="0" dirty="0">
                <a:ln>
                  <a:noFill/>
                </a:ln>
                <a:solidFill>
                  <a:schemeClr val="tx1"/>
                </a:solidFill>
                <a:effectLst/>
                <a:latin typeface="Google Sans"/>
              </a:rPr>
              <a:t> – Supports text, voice, and image-based prompt tracking for faster creation workflows and content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Predictive &amp; Strategic Focus</a:t>
            </a:r>
            <a:r>
              <a:rPr kumimoji="0" lang="en-US" altLang="en-US" sz="1600" b="0" i="0" u="none" strike="noStrike" cap="none" normalizeH="0" baseline="0" dirty="0">
                <a:ln>
                  <a:noFill/>
                </a:ln>
                <a:solidFill>
                  <a:schemeClr val="tx1"/>
                </a:solidFill>
                <a:effectLst/>
                <a:latin typeface="Google Sans"/>
              </a:rPr>
              <a:t> – Goes beyond standard metric tracking to forecast viral trends, sentiment changes, and upcoming competitor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a:rPr>
              <a:t>Scalable &amp; Enterprise-Ready</a:t>
            </a:r>
            <a:r>
              <a:rPr kumimoji="0" lang="en-US" altLang="en-US" sz="1600" b="0" i="0" u="none" strike="noStrike" cap="none" normalizeH="0" baseline="0" dirty="0">
                <a:ln>
                  <a:noFill/>
                </a:ln>
                <a:solidFill>
                  <a:schemeClr val="tx1"/>
                </a:solidFill>
                <a:effectLst/>
                <a:latin typeface="Google Sans"/>
              </a:rPr>
              <a:t> – Built on </a:t>
            </a:r>
            <a:r>
              <a:rPr kumimoji="0" lang="en-US" altLang="en-US" sz="1600" b="1" i="0" u="none" strike="noStrike" cap="none" normalizeH="0" baseline="0" dirty="0">
                <a:ln>
                  <a:noFill/>
                </a:ln>
                <a:solidFill>
                  <a:schemeClr val="tx1"/>
                </a:solidFill>
                <a:effectLst/>
                <a:latin typeface="Google Sans"/>
              </a:rPr>
              <a:t>IBM watsonx.ai</a:t>
            </a:r>
            <a:r>
              <a:rPr kumimoji="0" lang="en-US" altLang="en-US" sz="1600" b="0" i="0" u="none" strike="noStrike" cap="none" normalizeH="0" baseline="0" dirty="0">
                <a:ln>
                  <a:noFill/>
                </a:ln>
                <a:solidFill>
                  <a:schemeClr val="tx1"/>
                </a:solidFill>
                <a:effectLst/>
                <a:latin typeface="Google Sans"/>
              </a:rPr>
              <a:t> with </a:t>
            </a:r>
            <a:r>
              <a:rPr kumimoji="0" lang="en-US" altLang="en-US" sz="1600" b="1" i="0" u="none" strike="noStrike" cap="none" normalizeH="0" baseline="0" dirty="0">
                <a:ln>
                  <a:noFill/>
                </a:ln>
                <a:solidFill>
                  <a:schemeClr val="tx1"/>
                </a:solidFill>
                <a:effectLst/>
                <a:latin typeface="Google Sans"/>
              </a:rPr>
              <a:t>IBM Granite models</a:t>
            </a:r>
            <a:r>
              <a:rPr kumimoji="0" lang="en-US" altLang="en-US" sz="1600" b="0" i="0" u="none" strike="noStrike" cap="none" normalizeH="0" baseline="0" dirty="0">
                <a:ln>
                  <a:noFill/>
                </a:ln>
                <a:solidFill>
                  <a:schemeClr val="tx1"/>
                </a:solidFill>
                <a:effectLst/>
                <a:latin typeface="Google Sans"/>
              </a:rPr>
              <a:t>, ensuring reliability and strict data governance.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a:rPr>
              <a:t>This makes the solution a </a:t>
            </a:r>
            <a:r>
              <a:rPr kumimoji="0" lang="en-US" altLang="en-US" sz="1600" b="1" i="0" u="none" strike="noStrike" cap="none" normalizeH="0" baseline="0" dirty="0">
                <a:ln>
                  <a:noFill/>
                </a:ln>
                <a:solidFill>
                  <a:schemeClr val="tx1"/>
                </a:solidFill>
                <a:effectLst/>
                <a:latin typeface="Google Sans"/>
              </a:rPr>
              <a:t>smart, adaptive, and proactive digital companion</a:t>
            </a:r>
            <a:r>
              <a:rPr kumimoji="0" lang="en-US" altLang="en-US" sz="1600" b="0" i="0" u="none" strike="noStrike" cap="none" normalizeH="0" baseline="0" dirty="0">
                <a:ln>
                  <a:noFill/>
                </a:ln>
                <a:solidFill>
                  <a:schemeClr val="tx1"/>
                </a:solidFill>
                <a:effectLst/>
                <a:latin typeface="Google Sans"/>
              </a:rPr>
              <a:t>, not just a static social media analytics tool.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5"/>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204" name="Google Shape;204;p45"/>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05" name="Google Shape;205;p45"/>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06" name="Google Shape;206;p45"/>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07" name="Google Shape;207;p45"/>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6"/>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214" name="Google Shape;214;p46"/>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15" name="Google Shape;215;p46"/>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16" name="Google Shape;216;p46"/>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E4F0FC04-2B4A-417D-BA2A-1E2650C90606}"/>
              </a:ext>
            </a:extLst>
          </p:cNvPr>
          <p:cNvSpPr txBox="1"/>
          <p:nvPr/>
        </p:nvSpPr>
        <p:spPr>
          <a:xfrm>
            <a:off x="974143" y="1342822"/>
            <a:ext cx="10080660" cy="1692771"/>
          </a:xfrm>
          <a:prstGeom prst="rect">
            <a:avLst/>
          </a:prstGeom>
          <a:noFill/>
        </p:spPr>
        <p:txBody>
          <a:bodyPr wrap="square">
            <a:spAutoFit/>
          </a:bodyPr>
          <a:lstStyle/>
          <a:p>
            <a:r>
              <a:rPr lang="en-US" sz="2400" b="1" u="none" strike="noStrike" dirty="0">
                <a:effectLst/>
                <a:latin typeface="Google Sans"/>
              </a:rPr>
              <a:t>1. Integration with CRM &amp; Enterprise Marketing Hubs –</a:t>
            </a:r>
            <a:endParaRPr lang="en-US" sz="2400" b="0" u="none" strike="noStrike" dirty="0">
              <a:effectLst/>
              <a:latin typeface="Google Sans"/>
            </a:endParaRPr>
          </a:p>
          <a:p>
            <a:r>
              <a:rPr lang="en-US" sz="2000" b="0" u="none" strike="noStrike" dirty="0">
                <a:effectLst/>
                <a:latin typeface="Google Sans"/>
              </a:rPr>
              <a:t>The system can be integrated with enterprise CRMs and marketing automation platforms to collect real-time data such as customer conversions, sales pipelines, and active lead metrics. This will enable the Social Media Agent to provide more accurate and dynamic content recommendations based on actual revenue performance and business impact metrics.</a:t>
            </a:r>
          </a:p>
        </p:txBody>
      </p:sp>
      <p:sp>
        <p:nvSpPr>
          <p:cNvPr id="3" name="Rectangle 1">
            <a:extLst>
              <a:ext uri="{FF2B5EF4-FFF2-40B4-BE49-F238E27FC236}">
                <a16:creationId xmlns:a16="http://schemas.microsoft.com/office/drawing/2014/main" id="{1E4412BA-D794-465D-9F09-17B8A5AAAEB2}"/>
              </a:ext>
            </a:extLst>
          </p:cNvPr>
          <p:cNvSpPr>
            <a:spLocks noChangeArrowheads="1"/>
          </p:cNvSpPr>
          <p:nvPr/>
        </p:nvSpPr>
        <p:spPr bwMode="auto">
          <a:xfrm>
            <a:off x="1137197" y="3170194"/>
            <a:ext cx="9917606" cy="231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Google Sans"/>
              </a:rPr>
              <a:t>2. AI-Powered Autonomous Video Generation &amp; Multi-Platform Publishing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Google Sans"/>
              </a:rPr>
              <a:t>Enhancing the system with automated video rendering agents and direct API publishing across multiple social media networks will improve operational scale. Users can generate complete multimedia visual assets naturally from text prompts, making the solution an end-to-end, hands-free campaign management system for global enterprise teams.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7"/>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 name="Google Shape;222;p47"/>
          <p:cNvSpPr txBox="1"/>
          <p:nvPr/>
        </p:nvSpPr>
        <p:spPr>
          <a:xfrm>
            <a:off x="1127401" y="74143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a:t>
            </a:r>
            <a:endParaRPr dirty="0"/>
          </a:p>
        </p:txBody>
      </p:sp>
      <p:pic>
        <p:nvPicPr>
          <p:cNvPr id="4" name="Picture 3">
            <a:extLst>
              <a:ext uri="{FF2B5EF4-FFF2-40B4-BE49-F238E27FC236}">
                <a16:creationId xmlns:a16="http://schemas.microsoft.com/office/drawing/2014/main" id="{3F2779EF-C998-4C91-A5E5-DA9864CB00FE}"/>
              </a:ext>
            </a:extLst>
          </p:cNvPr>
          <p:cNvPicPr>
            <a:picLocks noChangeAspect="1"/>
          </p:cNvPicPr>
          <p:nvPr/>
        </p:nvPicPr>
        <p:blipFill>
          <a:blip r:embed="rId3"/>
          <a:stretch>
            <a:fillRect/>
          </a:stretch>
        </p:blipFill>
        <p:spPr>
          <a:xfrm>
            <a:off x="3321977" y="1418539"/>
            <a:ext cx="6685052" cy="5013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48"/>
          <p:cNvSpPr txBox="1"/>
          <p:nvPr/>
        </p:nvSpPr>
        <p:spPr>
          <a:xfrm>
            <a:off x="331637" y="232738"/>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230" name="Google Shape;230;p48"/>
          <p:cNvSpPr txBox="1"/>
          <p:nvPr/>
        </p:nvSpPr>
        <p:spPr>
          <a:xfrm>
            <a:off x="1308501" y="761274"/>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 IBM BOB Certificate</a:t>
            </a:r>
            <a:endParaRPr dirty="0"/>
          </a:p>
        </p:txBody>
      </p:sp>
      <p:pic>
        <p:nvPicPr>
          <p:cNvPr id="4" name="Picture 3">
            <a:extLst>
              <a:ext uri="{FF2B5EF4-FFF2-40B4-BE49-F238E27FC236}">
                <a16:creationId xmlns:a16="http://schemas.microsoft.com/office/drawing/2014/main" id="{41404E52-5D34-47F0-9463-63A7976A31A9}"/>
              </a:ext>
            </a:extLst>
          </p:cNvPr>
          <p:cNvPicPr>
            <a:picLocks noChangeAspect="1"/>
          </p:cNvPicPr>
          <p:nvPr/>
        </p:nvPicPr>
        <p:blipFill rotWithShape="1">
          <a:blip r:embed="rId3"/>
          <a:srcRect l="-326" t="373" r="326" b="2582"/>
          <a:stretch/>
        </p:blipFill>
        <p:spPr>
          <a:xfrm>
            <a:off x="3379637" y="1207573"/>
            <a:ext cx="7202745" cy="54176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2765C-3264-45B1-8A5F-6D86CCECE81D}"/>
              </a:ext>
            </a:extLst>
          </p:cNvPr>
          <p:cNvSpPr>
            <a:spLocks noGrp="1"/>
          </p:cNvSpPr>
          <p:nvPr>
            <p:ph type="title"/>
          </p:nvPr>
        </p:nvSpPr>
        <p:spPr/>
        <p:txBody>
          <a:bodyPr>
            <a:normAutofit/>
          </a:bodyPr>
          <a:lstStyle/>
          <a:p>
            <a:r>
              <a:rPr lang="en-US" sz="2800" dirty="0">
                <a:latin typeface="+mj-lt"/>
              </a:rPr>
              <a:t>Certificates</a:t>
            </a:r>
            <a:r>
              <a:rPr lang="en-US" sz="2800" dirty="0"/>
              <a:t> Earned :</a:t>
            </a:r>
            <a:endParaRPr lang="en-IN" sz="2800" dirty="0"/>
          </a:p>
        </p:txBody>
      </p:sp>
      <p:pic>
        <p:nvPicPr>
          <p:cNvPr id="9" name="Picture 8">
            <a:extLst>
              <a:ext uri="{FF2B5EF4-FFF2-40B4-BE49-F238E27FC236}">
                <a16:creationId xmlns:a16="http://schemas.microsoft.com/office/drawing/2014/main" id="{BFACB4CC-3F98-4E86-A56E-B0798A4137D0}"/>
              </a:ext>
            </a:extLst>
          </p:cNvPr>
          <p:cNvPicPr>
            <a:picLocks noChangeAspect="1"/>
          </p:cNvPicPr>
          <p:nvPr/>
        </p:nvPicPr>
        <p:blipFill>
          <a:blip r:embed="rId2"/>
          <a:stretch>
            <a:fillRect/>
          </a:stretch>
        </p:blipFill>
        <p:spPr>
          <a:xfrm>
            <a:off x="3320541" y="1503284"/>
            <a:ext cx="6696763" cy="5112881"/>
          </a:xfrm>
          <a:prstGeom prst="rect">
            <a:avLst/>
          </a:prstGeom>
        </p:spPr>
      </p:pic>
    </p:spTree>
    <p:extLst>
      <p:ext uri="{BB962C8B-B14F-4D97-AF65-F5344CB8AC3E}">
        <p14:creationId xmlns:p14="http://schemas.microsoft.com/office/powerpoint/2010/main" val="1872286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TotalTime>
  <Words>1452</Words>
  <Application>Microsoft Office PowerPoint</Application>
  <PresentationFormat>Widescreen</PresentationFormat>
  <Paragraphs>109</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Courier New</vt:lpstr>
      <vt:lpstr>Google Sans</vt:lpstr>
      <vt:lpstr>Symbol</vt:lpstr>
      <vt:lpstr>Times New Roman</vt:lpstr>
      <vt:lpstr>Office Theme</vt:lpstr>
      <vt:lpstr>SHRI SHANAKARCHARYA TECHANICAL CAMPUS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Certificates Earned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SHRI SHANAKARCHARYA TECHANICAL CAMPUS</dc:title>
  <dc:creator>Manda Anirudh</dc:creator>
  <cp:lastModifiedBy>Bhumika Chandrakar</cp:lastModifiedBy>
  <cp:revision>4</cp:revision>
  <dcterms:created xsi:type="dcterms:W3CDTF">2025-07-08T05:06:56Z</dcterms:created>
  <dcterms:modified xsi:type="dcterms:W3CDTF">2026-09-10T21:29:37Z</dcterms:modified>
</cp:coreProperties>
</file>